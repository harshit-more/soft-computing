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notesMasterIdLst>
    <p:notesMasterId r:id="rId17"/>
  </p:notesMasterIdLst>
  <p:sldIdLst>
    <p:sldId id="256" r:id="rId2"/>
    <p:sldId id="258" r:id="rId3"/>
    <p:sldId id="265" r:id="rId4"/>
    <p:sldId id="266" r:id="rId5"/>
    <p:sldId id="267" r:id="rId6"/>
    <p:sldId id="268" r:id="rId7"/>
    <p:sldId id="273" r:id="rId8"/>
    <p:sldId id="269" r:id="rId9"/>
    <p:sldId id="270" r:id="rId10"/>
    <p:sldId id="271" r:id="rId11"/>
    <p:sldId id="274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34DBD-E611-4A53-99B7-FFD1A33197BF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C34C9-8ED9-481A-AFDE-CD0A992AF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07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34C9-8ED9-481A-AFDE-CD0A992AF3B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73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27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5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2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49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4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83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47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01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8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91D04C6-0EB6-4ECE-983D-33CD784330CA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4964BC8-87BA-42A8-861C-CDD5D151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0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EFF6-4419-FE36-6DE5-D6937B088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004" y="478550"/>
            <a:ext cx="8409992" cy="2387600"/>
          </a:xfrm>
        </p:spPr>
        <p:txBody>
          <a:bodyPr>
            <a:normAutofit/>
          </a:bodyPr>
          <a:lstStyle/>
          <a:p>
            <a:r>
              <a:rPr lang="en-IN" sz="3200" dirty="0"/>
              <a:t>The Influence of Genetic Algorithms on Learning Possibilities of Artificial Neural Networks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96783-2682-9AE5-9180-9554FFB55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863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Harshit Kumar More</a:t>
            </a:r>
          </a:p>
          <a:p>
            <a:r>
              <a:rPr lang="en-US" dirty="0"/>
              <a:t>Kunal Sati</a:t>
            </a:r>
          </a:p>
          <a:p>
            <a:endParaRPr lang="en-US" dirty="0"/>
          </a:p>
          <a:p>
            <a:r>
              <a:rPr lang="en-US" dirty="0"/>
              <a:t>Submitted as part of Soft Computing Project (MCS Sem I)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5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1213-D6CD-7765-0755-3D240016D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58212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57D63-96C4-F38D-524D-BBAD30041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836"/>
          </a:xfrm>
        </p:spPr>
        <p:txBody>
          <a:bodyPr>
            <a:normAutofit/>
          </a:bodyPr>
          <a:lstStyle/>
          <a:p>
            <a:r>
              <a:rPr lang="en-IN" dirty="0"/>
              <a:t>Demonstrating learning ability of a Neural Network using a Genetic Algorithm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Studying how GAs can optimize the learning process of ANNs 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How changes in GA parameter affect speed and performance</a:t>
            </a:r>
          </a:p>
          <a:p>
            <a:endParaRPr lang="en-IN" dirty="0"/>
          </a:p>
          <a:p>
            <a:r>
              <a:rPr lang="en-IN" dirty="0"/>
              <a:t>Network topology of ANN affects generalization and performance of Neural Networks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Using A computer game: Classical Snake (piloted by an ANN trained via a GA)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1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6CD3-9344-8D8C-F7CF-DDD7E6E6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Snake Game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E5EE-FD98-6957-1E5D-975F52566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63440"/>
          </a:xfrm>
        </p:spPr>
        <p:txBody>
          <a:bodyPr>
            <a:normAutofit/>
          </a:bodyPr>
          <a:lstStyle/>
          <a:p>
            <a:r>
              <a:rPr lang="en-US" dirty="0"/>
              <a:t>A simple grid-based arcade game</a:t>
            </a:r>
          </a:p>
          <a:p>
            <a:r>
              <a:rPr lang="en-US" dirty="0"/>
              <a:t>The player controls a snake that moves continuously inside the grid</a:t>
            </a:r>
            <a:endParaRPr lang="en-IN" dirty="0"/>
          </a:p>
          <a:p>
            <a:r>
              <a:rPr lang="en-IN" dirty="0"/>
              <a:t>The Goal of the game is make the snake grow larger without getting eliminated </a:t>
            </a:r>
          </a:p>
          <a:p>
            <a:r>
              <a:rPr lang="en-IN" dirty="0"/>
              <a:t>The snake is eliminated when its head hits the boundary of the grid (walls) or it bites itself (the head of the snake hits its own body)</a:t>
            </a:r>
          </a:p>
          <a:p>
            <a:r>
              <a:rPr lang="en-IN" dirty="0"/>
              <a:t>The snake grows by one unit when it consumed food, which randomly appears on the grid</a:t>
            </a:r>
          </a:p>
          <a:p>
            <a:r>
              <a:rPr lang="en-IN" dirty="0"/>
              <a:t>Player can make 4 moves to steer the snake: Up Down Left Right </a:t>
            </a:r>
          </a:p>
          <a:p>
            <a:r>
              <a:rPr lang="en-IN" dirty="0"/>
              <a:t>Note: The Snake cannot move backwards onto itself</a:t>
            </a:r>
          </a:p>
          <a:p>
            <a:r>
              <a:rPr lang="en-IN" dirty="0"/>
              <a:t>Experiment is called – </a:t>
            </a:r>
            <a:r>
              <a:rPr lang="en-IN" b="1" i="1" dirty="0"/>
              <a:t>“SnakeAI”  </a:t>
            </a:r>
          </a:p>
        </p:txBody>
      </p:sp>
    </p:spTree>
    <p:extLst>
      <p:ext uri="{BB962C8B-B14F-4D97-AF65-F5344CB8AC3E}">
        <p14:creationId xmlns:p14="http://schemas.microsoft.com/office/powerpoint/2010/main" val="3838082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CBC0-B61B-AC24-7DA2-82BE6083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Snake</a:t>
            </a:r>
            <a:endParaRPr lang="en-IN" dirty="0"/>
          </a:p>
        </p:txBody>
      </p:sp>
      <p:pic>
        <p:nvPicPr>
          <p:cNvPr id="1026" name="Picture 2" descr="Classic Snake Game Snake Classic Watch On The App Store">
            <a:extLst>
              <a:ext uri="{FF2B5EF4-FFF2-40B4-BE49-F238E27FC236}">
                <a16:creationId xmlns:a16="http://schemas.microsoft.com/office/drawing/2014/main" id="{C262DB18-CCE5-45C1-75E4-2CEB923A5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17" y="2370987"/>
            <a:ext cx="2808682" cy="335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2FF5EE-76FD-E5A0-10D6-FF9A9AFD0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210" y="1691322"/>
            <a:ext cx="3219450" cy="333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1C6A05-7153-201B-22C4-242591B37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901" y="2932655"/>
            <a:ext cx="3009207" cy="355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8D54-933D-8E93-9761-54E38BF4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2B6A-AF14-69F0-7364-1B985EC5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 – ANN Topology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0FDA-870C-8C0B-E48D-A2F638549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24 Neuron Inputs (Distances to 3 important Objects)</a:t>
            </a:r>
          </a:p>
          <a:p>
            <a:endParaRPr lang="en-US" dirty="0"/>
          </a:p>
          <a:p>
            <a:r>
              <a:rPr lang="en-US" dirty="0"/>
              <a:t>3 Objects include Food, Wall &amp; Body of Snake (Measured in 8 directions</a:t>
            </a:r>
          </a:p>
          <a:p>
            <a:endParaRPr lang="en-US" dirty="0"/>
          </a:p>
          <a:p>
            <a:r>
              <a:rPr lang="en-US" dirty="0"/>
              <a:t>4 Neuron Output (4 directions for snake to turn to) </a:t>
            </a:r>
          </a:p>
          <a:p>
            <a:endParaRPr lang="en-US" dirty="0"/>
          </a:p>
          <a:p>
            <a:r>
              <a:rPr lang="en-IN" dirty="0"/>
              <a:t>Hidden Layers varied from 1-4 Layers with 4-48 Neurons</a:t>
            </a:r>
          </a:p>
          <a:p>
            <a:endParaRPr lang="en-IN" dirty="0"/>
          </a:p>
        </p:txBody>
      </p:sp>
      <p:sp>
        <p:nvSpPr>
          <p:cNvPr id="4" name="AutoShape 2" descr="12 Types of Neural Networks in Deep Learning">
            <a:extLst>
              <a:ext uri="{FF2B5EF4-FFF2-40B4-BE49-F238E27FC236}">
                <a16:creationId xmlns:a16="http://schemas.microsoft.com/office/drawing/2014/main" id="{E88949ED-90DF-513F-7914-E6ED3782B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12 Types of Neural Networks in Deep Learning">
            <a:extLst>
              <a:ext uri="{FF2B5EF4-FFF2-40B4-BE49-F238E27FC236}">
                <a16:creationId xmlns:a16="http://schemas.microsoft.com/office/drawing/2014/main" id="{3D56D857-D470-F01D-2315-9591376E8D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57232" y="1861149"/>
            <a:ext cx="3494974" cy="349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0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FD2AD-E273-5E1A-91E3-EB4B024E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75C7-3370-5F5B-6A32-167182E8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7A54D-2F37-16D4-F626-F3EDFBDCF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Population sizes: </a:t>
            </a:r>
            <a:r>
              <a:rPr lang="en-IN" i="1" dirty="0"/>
              <a:t>500, 2000, 4000 </a:t>
            </a:r>
            <a:r>
              <a:rPr lang="en-IN" dirty="0"/>
              <a:t>individuals per generation</a:t>
            </a:r>
          </a:p>
          <a:p>
            <a:endParaRPr lang="en-US" dirty="0"/>
          </a:p>
          <a:p>
            <a:r>
              <a:rPr lang="en-IN" dirty="0"/>
              <a:t>Mutation rates: </a:t>
            </a:r>
            <a:r>
              <a:rPr lang="en-IN" i="1" dirty="0"/>
              <a:t>5 10 15 20 25 50 (%)</a:t>
            </a:r>
          </a:p>
          <a:p>
            <a:endParaRPr lang="en-IN" i="1" dirty="0"/>
          </a:p>
          <a:p>
            <a:r>
              <a:rPr lang="en-IN" dirty="0"/>
              <a:t>Generations: </a:t>
            </a:r>
            <a:r>
              <a:rPr lang="en-IN" i="1" dirty="0"/>
              <a:t>50 per run</a:t>
            </a:r>
            <a:r>
              <a:rPr lang="en-IN" dirty="0"/>
              <a:t>, each test repeated </a:t>
            </a:r>
            <a:r>
              <a:rPr lang="en-IN" i="1" dirty="0"/>
              <a:t>60 times</a:t>
            </a:r>
            <a:r>
              <a:rPr lang="en-IN" dirty="0"/>
              <a:t> for statistical accuracy</a:t>
            </a:r>
          </a:p>
          <a:p>
            <a:endParaRPr lang="en-IN" dirty="0"/>
          </a:p>
          <a:p>
            <a:r>
              <a:rPr lang="en-IN" dirty="0"/>
              <a:t>Fitness function: </a:t>
            </a:r>
            <a:r>
              <a:rPr lang="en-IN" b="1" i="1" dirty="0"/>
              <a:t>+1 surviving each step</a:t>
            </a:r>
            <a:r>
              <a:rPr lang="en-IN" dirty="0"/>
              <a:t>, </a:t>
            </a:r>
            <a:r>
              <a:rPr lang="en-IN" b="1" i="1" dirty="0"/>
              <a:t>+100 for food eaten</a:t>
            </a:r>
          </a:p>
          <a:p>
            <a:endParaRPr lang="en-IN" b="1" i="1" dirty="0"/>
          </a:p>
          <a:p>
            <a:r>
              <a:rPr lang="en-IN" i="1" dirty="0"/>
              <a:t>4800</a:t>
            </a:r>
            <a:r>
              <a:rPr lang="en-IN" dirty="0"/>
              <a:t> training evolutions (java based local and virtual Linux servers)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91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F3AA-1402-DF95-03FE-21C5883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Flow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B266A-356D-1411-0AF0-93F54C34E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113" y="2060779"/>
            <a:ext cx="7884310" cy="363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9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D7D8-6595-D490-E636-D30537AC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7886-141A-BAFE-FE07-B74E103F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GAs with ANNs?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75D9-4321-4753-AC03-B1018C35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524115" cy="4351337"/>
          </a:xfrm>
        </p:spPr>
        <p:txBody>
          <a:bodyPr>
            <a:normAutofit lnSpcReduction="10000"/>
          </a:bodyPr>
          <a:lstStyle/>
          <a:p>
            <a:r>
              <a:rPr lang="en-IN" b="1" i="1" dirty="0"/>
              <a:t>Minimum Data Demands </a:t>
            </a:r>
            <a:r>
              <a:rPr lang="en-IN" dirty="0"/>
              <a:t>– GAs have zero demand on computation resources in form of data </a:t>
            </a:r>
          </a:p>
          <a:p>
            <a:endParaRPr lang="en-US" dirty="0"/>
          </a:p>
          <a:p>
            <a:r>
              <a:rPr lang="en-IN" b="1" i="1" dirty="0"/>
              <a:t>Optimization of Hard of Define Functions </a:t>
            </a:r>
            <a:r>
              <a:rPr lang="en-IN" i="1" dirty="0"/>
              <a:t>– When expected solution cannot be properly defined, GAs can allow for a good approximation towards the solution </a:t>
            </a:r>
          </a:p>
          <a:p>
            <a:endParaRPr lang="en-IN" b="1" i="1" dirty="0"/>
          </a:p>
          <a:p>
            <a:r>
              <a:rPr lang="en-IN" b="1" i="1" dirty="0"/>
              <a:t>Cost and Time Efficient</a:t>
            </a:r>
            <a:r>
              <a:rPr lang="en-IN" dirty="0"/>
              <a:t> – Training a Deep Neural Network would have excessive demand on computation resources, GAs have practically comparatively none  </a:t>
            </a:r>
          </a:p>
          <a:p>
            <a:endParaRPr lang="en-IN" b="1" i="1" dirty="0"/>
          </a:p>
          <a:p>
            <a:r>
              <a:rPr lang="en-IN" i="1" dirty="0"/>
              <a:t>A hybrid approach allows for direction towards solving the problem (using fitness function to approximate success) and neural network for modelling complexities in the solution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866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5DDD-1A1D-2B4B-4BBA-FB1CCBAC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6F99-DBD1-FDA9-254D-AD227F3B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Network Topology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924A7-17A2-779E-EE86-5095A6BFB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032503" cy="4351337"/>
          </a:xfrm>
        </p:spPr>
        <p:txBody>
          <a:bodyPr>
            <a:normAutofit/>
          </a:bodyPr>
          <a:lstStyle/>
          <a:p>
            <a:r>
              <a:rPr lang="en-IN" dirty="0"/>
              <a:t>Best results obtained from </a:t>
            </a:r>
            <a:r>
              <a:rPr lang="en-IN" b="1" i="1" dirty="0"/>
              <a:t>1 Hidden Layer with 16 Neurons</a:t>
            </a:r>
            <a:endParaRPr lang="en-IN" dirty="0"/>
          </a:p>
          <a:p>
            <a:r>
              <a:rPr lang="en-IN" dirty="0"/>
              <a:t>Increasing Layers to </a:t>
            </a:r>
            <a:r>
              <a:rPr lang="en-IN" i="1" dirty="0"/>
              <a:t>3-4 caused overfitting </a:t>
            </a:r>
            <a:endParaRPr lang="en-IN" dirty="0"/>
          </a:p>
          <a:p>
            <a:r>
              <a:rPr lang="en-IN" dirty="0"/>
              <a:t>Increasing Neurons per layer </a:t>
            </a:r>
            <a:r>
              <a:rPr lang="en-IN" b="1" i="1" dirty="0"/>
              <a:t>improved performance noticeably 16-24 Neurons</a:t>
            </a:r>
            <a:r>
              <a:rPr lang="en-IN" dirty="0"/>
              <a:t>, diminishing returns after that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BE871-71D2-35CA-68D4-5C96B0C6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6" y="3906145"/>
            <a:ext cx="5643717" cy="1913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8ED4E-AACA-4E20-3070-62B3185B8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654" y="3436525"/>
            <a:ext cx="5031475" cy="274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50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B74D-BA4E-32F9-EA11-2B25DF3D9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B394-9563-00D6-EB1A-5FDC9C1C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GAs Parameters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17A1-CB12-72F6-7D53-EC1C3DB55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032503" cy="4351337"/>
          </a:xfrm>
        </p:spPr>
        <p:txBody>
          <a:bodyPr>
            <a:normAutofit/>
          </a:bodyPr>
          <a:lstStyle/>
          <a:p>
            <a:r>
              <a:rPr lang="en-IN" dirty="0"/>
              <a:t>Increasing Population size improved results</a:t>
            </a:r>
          </a:p>
          <a:p>
            <a:r>
              <a:rPr lang="en-IN" dirty="0"/>
              <a:t>Time Increased Linearly with population growth</a:t>
            </a:r>
          </a:p>
          <a:p>
            <a:r>
              <a:rPr lang="en-IN" dirty="0"/>
              <a:t>Gains plateaued at </a:t>
            </a:r>
            <a:r>
              <a:rPr lang="en-IN" b="1" i="1" dirty="0"/>
              <a:t>population size of about 2000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D79AF-720A-575A-442B-C381B8529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57" y="3429000"/>
            <a:ext cx="5310956" cy="2885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C1565-8ED6-D532-CE20-BC271C68D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953" y="3429000"/>
            <a:ext cx="5166126" cy="26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9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8CF9-B436-4822-DFB3-8356E12A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D730-C57B-0E61-1B88-C193C33E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365760"/>
            <a:ext cx="9692640" cy="1325562"/>
          </a:xfrm>
        </p:spPr>
        <p:txBody>
          <a:bodyPr/>
          <a:lstStyle/>
          <a:p>
            <a:r>
              <a:rPr lang="en-US" dirty="0"/>
              <a:t>Results – GAs Parameters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C338-D6DA-C44C-94A7-A2229D2B9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032503" cy="4351337"/>
          </a:xfrm>
        </p:spPr>
        <p:txBody>
          <a:bodyPr>
            <a:normAutofit/>
          </a:bodyPr>
          <a:lstStyle/>
          <a:p>
            <a:r>
              <a:rPr lang="en-IN" i="1" dirty="0"/>
              <a:t>Too High (50%) </a:t>
            </a:r>
            <a:r>
              <a:rPr lang="en-IN" dirty="0"/>
              <a:t>and </a:t>
            </a:r>
            <a:r>
              <a:rPr lang="en-IN" i="1" dirty="0"/>
              <a:t>Too Low (5%)</a:t>
            </a:r>
            <a:r>
              <a:rPr lang="en-IN" dirty="0"/>
              <a:t> Mutation Rate performed poorly</a:t>
            </a:r>
          </a:p>
          <a:p>
            <a:r>
              <a:rPr lang="en-IN" dirty="0"/>
              <a:t>Higher mutation helped avoid local optima but it </a:t>
            </a:r>
            <a:r>
              <a:rPr lang="en-IN" i="1" dirty="0"/>
              <a:t>converged much slowly</a:t>
            </a:r>
          </a:p>
          <a:p>
            <a:r>
              <a:rPr lang="en-IN" dirty="0"/>
              <a:t>Best Results at </a:t>
            </a:r>
            <a:r>
              <a:rPr lang="en-IN" b="1" i="1" dirty="0"/>
              <a:t>15-25% Mutation Rate </a:t>
            </a:r>
            <a:r>
              <a:rPr lang="en-IN" dirty="0"/>
              <a:t>(Balance b/w Exploring &amp; Convergence)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ACCE9-2E26-D663-60EB-B63105014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7" y="3451071"/>
            <a:ext cx="10065673" cy="304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76C2-EA34-4346-914F-F90E5BC6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Results – Score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50995-19C7-324A-0814-A0823BC44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28" y="2087714"/>
            <a:ext cx="9441436" cy="40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2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B775-244D-6E34-5B75-4E076373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A77A-296E-3114-801F-6BBD4208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Results – Time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F4588C-3D80-CCF5-7F3A-AF522A6CD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74" y="1923931"/>
            <a:ext cx="7441103" cy="429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30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836B-D0E0-4C60-C3F2-417C3602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8E9E-012F-79BC-44E6-288ABBB8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DF90-9BE5-AB47-596F-3DC41B948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524115" cy="4351337"/>
          </a:xfrm>
        </p:spPr>
        <p:txBody>
          <a:bodyPr>
            <a:normAutofit/>
          </a:bodyPr>
          <a:lstStyle/>
          <a:p>
            <a:r>
              <a:rPr lang="en-IN" dirty="0"/>
              <a:t>1. Topology of network is Significant: A simpler ANN can outperform deeper ANNs for smaller problems</a:t>
            </a:r>
          </a:p>
          <a:p>
            <a:endParaRPr lang="en-IN" dirty="0"/>
          </a:p>
          <a:p>
            <a:r>
              <a:rPr lang="en-IN" dirty="0"/>
              <a:t>2. GA Parameter tuning is important: Properly tuned parameters can have a huge effect on performance</a:t>
            </a:r>
          </a:p>
          <a:p>
            <a:endParaRPr lang="en-IN" dirty="0"/>
          </a:p>
          <a:p>
            <a:r>
              <a:rPr lang="en-IN" dirty="0"/>
              <a:t>3. GAs are helpful in training ANNs: Especially when target variable is not known and in gradient-based learning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770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BBC6-2267-1FBC-E45A-6ECCD088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DA433-15C4-0E15-C5D8-E613CED6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86632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Padhy</a:t>
            </a:r>
            <a:r>
              <a:rPr lang="en-IN" dirty="0"/>
              <a:t>, N.; Singh, R.P.; Satapathy, S.C. Cost-effective and fault-resilient reusability prediction model by using adaptive genetic algorithm based neural network for web-of-service applications. </a:t>
            </a:r>
            <a:r>
              <a:rPr lang="en-IN" dirty="0" err="1"/>
              <a:t>Clust</a:t>
            </a:r>
            <a:r>
              <a:rPr lang="en-IN" dirty="0"/>
              <a:t>. </a:t>
            </a:r>
            <a:r>
              <a:rPr lang="en-IN" dirty="0" err="1"/>
              <a:t>Comput</a:t>
            </a:r>
            <a:r>
              <a:rPr lang="en-IN" dirty="0"/>
              <a:t>. 2019, 22, 14559–14581. [</a:t>
            </a:r>
            <a:r>
              <a:rPr lang="en-IN" dirty="0" err="1"/>
              <a:t>CrossRef</a:t>
            </a:r>
            <a:r>
              <a:rPr lang="en-IN" dirty="0"/>
              <a:t>]</a:t>
            </a:r>
          </a:p>
          <a:p>
            <a:endParaRPr lang="en-IN" dirty="0"/>
          </a:p>
          <a:p>
            <a:r>
              <a:rPr lang="en-US" dirty="0"/>
              <a:t>Viau, G. Train a Neural Network to Play Snake Using a Genetic Algorithm. Available online: https://github.com/greerviau/ SnakeAI (accessed on 1 April 2022).</a:t>
            </a:r>
          </a:p>
          <a:p>
            <a:endParaRPr lang="en-US" dirty="0"/>
          </a:p>
          <a:p>
            <a:r>
              <a:rPr lang="en-US" dirty="0"/>
              <a:t>Haldurai, L.; Madhubala, T.; Rajalakshmi, R. A study on genetic algorithm and its applications. Int. J. </a:t>
            </a:r>
            <a:r>
              <a:rPr lang="en-US" dirty="0" err="1"/>
              <a:t>Comput</a:t>
            </a:r>
            <a:r>
              <a:rPr lang="en-US" dirty="0"/>
              <a:t>. Sci. Eng. 2016, 4, 139.</a:t>
            </a:r>
          </a:p>
          <a:p>
            <a:endParaRPr lang="en-US" dirty="0"/>
          </a:p>
          <a:p>
            <a:r>
              <a:rPr lang="en-IN" dirty="0"/>
              <a:t>Nicholson, C. Artificial Intelligence (AI) vs. Machine Learning vs. Deep Learning. Available online: https://wiki.pathmind.com/ ai-vs-machine-learning-vs-deep-learning </a:t>
            </a:r>
          </a:p>
        </p:txBody>
      </p:sp>
    </p:spTree>
    <p:extLst>
      <p:ext uri="{BB962C8B-B14F-4D97-AF65-F5344CB8AC3E}">
        <p14:creationId xmlns:p14="http://schemas.microsoft.com/office/powerpoint/2010/main" val="142880463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245</TotalTime>
  <Words>735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Schoolbook</vt:lpstr>
      <vt:lpstr>Wingdings 2</vt:lpstr>
      <vt:lpstr>View</vt:lpstr>
      <vt:lpstr>The Influence of Genetic Algorithms on Learning Possibilities of Artificial Neural Networks </vt:lpstr>
      <vt:lpstr>Introduction</vt:lpstr>
      <vt:lpstr>Classic Snake Game</vt:lpstr>
      <vt:lpstr>Classic Snake</vt:lpstr>
      <vt:lpstr>Experimental Setup – ANN Topology</vt:lpstr>
      <vt:lpstr>Genetic Algorithm Parameters</vt:lpstr>
      <vt:lpstr>Experiment Flow</vt:lpstr>
      <vt:lpstr>Why Use GAs with ANNs?</vt:lpstr>
      <vt:lpstr>Results – Network Topology </vt:lpstr>
      <vt:lpstr>Results – GAs Parameters </vt:lpstr>
      <vt:lpstr>Results – GAs Parameters </vt:lpstr>
      <vt:lpstr>Best Results – Score </vt:lpstr>
      <vt:lpstr>Best Results – Time 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Sati</dc:creator>
  <cp:lastModifiedBy>Kunal Sati</cp:lastModifiedBy>
  <cp:revision>19</cp:revision>
  <dcterms:created xsi:type="dcterms:W3CDTF">2025-11-14T07:05:32Z</dcterms:created>
  <dcterms:modified xsi:type="dcterms:W3CDTF">2025-11-16T20:45:36Z</dcterms:modified>
</cp:coreProperties>
</file>